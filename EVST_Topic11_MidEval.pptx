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01d9101-c2aa-d9fa-5dd7-a410b093324d}">
          <p14:sldIdLst>
            <p14:sldId id="256"/>
            <p14:sldId id="257"/>
          </p14:sldIdLst>
        </p14:section>
        <p14:section name="Data and method" id="{2bb52ba6-b340-045a-ce06-c5b14e763a7b}">
          <p14:sldIdLst>
            <p14:sldId id="258"/>
            <p14:sldId id="259"/>
          </p14:sldIdLst>
        </p14:section>
        <p14:section name="Results" id="{6a546f47-3aa9-55bb-028c-7ff0471d19fb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ose" id="{00166770-ac9b-6204-6d27-d2b3fb36c2a4}">
          <p14:sldIdLst>
            <p14:sldId id="267"/>
            <p14:sldId id="268"/>
          </p14:sldIdLst>
        </p14:section>
        <p14:section name="Backup" id="{2e4abc28-abd1-2eb8-1780-748f15db440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Recording intensity by distance from road (1 = fair share of land)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solidFill>
              <a:srgbClr val="D2601A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260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0-100 m</c:v>
                  </c:pt>
                  <c:pt idx="1">
                    <c:v>100-250 m</c:v>
                  </c:pt>
                  <c:pt idx="2">
                    <c:v>250-500 m</c:v>
                  </c:pt>
                  <c:pt idx="3">
                    <c:v>0.5-1 km</c:v>
                  </c:pt>
                  <c:pt idx="4">
                    <c:v>1-2 km</c:v>
                  </c:pt>
                  <c:pt idx="5">
                    <c:v>2-5 km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3.43</c:v>
                </c:pt>
                <c:pt idx="1">
                  <c:v>0.81</c:v>
                </c:pt>
                <c:pt idx="2">
                  <c:v>0.35</c:v>
                </c:pt>
                <c:pt idx="3">
                  <c:v>0.16</c:v>
                </c:pt>
                <c:pt idx="4">
                  <c:v>0.14</c:v>
                </c:pt>
                <c:pt idx="5">
                  <c:v>0.1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 per year</c:v>
                </c:pt>
              </c:strCache>
            </c:strRef>
          </c:tx>
          <c:spPr>
            <a:solidFill>
              <a:srgbClr val="C9D6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  <c:pt idx="14">
                    <c:v>2022</c:v>
                  </c:pt>
                  <c:pt idx="15">
                    <c:v>2023</c:v>
                  </c:pt>
                  <c:pt idx="16">
                    <c:v>2024</c:v>
                  </c:pt>
                  <c:pt idx="17">
                    <c:v>2025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1442</c:v>
                </c:pt>
                <c:pt idx="1">
                  <c:v>1922</c:v>
                </c:pt>
                <c:pt idx="2">
                  <c:v>2546</c:v>
                </c:pt>
                <c:pt idx="3">
                  <c:v>2974</c:v>
                </c:pt>
                <c:pt idx="4">
                  <c:v>3548</c:v>
                </c:pt>
                <c:pt idx="5">
                  <c:v>3862</c:v>
                </c:pt>
                <c:pt idx="6">
                  <c:v>5771</c:v>
                </c:pt>
                <c:pt idx="7">
                  <c:v>5876</c:v>
                </c:pt>
                <c:pt idx="8">
                  <c:v>6775</c:v>
                </c:pt>
                <c:pt idx="9">
                  <c:v>9184</c:v>
                </c:pt>
                <c:pt idx="10">
                  <c:v>11807</c:v>
                </c:pt>
                <c:pt idx="11">
                  <c:v>18842</c:v>
                </c:pt>
                <c:pt idx="12">
                  <c:v>29955</c:v>
                </c:pt>
                <c:pt idx="13">
                  <c:v>36761</c:v>
                </c:pt>
                <c:pt idx="14">
                  <c:v>48737</c:v>
                </c:pt>
                <c:pt idx="15">
                  <c:v>70271</c:v>
                </c:pt>
                <c:pt idx="16">
                  <c:v>80376</c:v>
                </c:pt>
                <c:pt idx="17">
                  <c:v>88636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New species × cells per 1,000 records</c:v>
                </c:pt>
              </c:strCache>
            </c:strRef>
          </c:tx>
          <c:spPr>
            <a:solidFill>
              <a:srgbClr val="D2601A"/>
            </a:solidFill>
            <a:ln w="38100" cap="flat">
              <a:solidFill>
                <a:srgbClr val="D260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2601A"/>
              </a:solidFill>
              <a:ln w="9525" cap="flat">
                <a:solidFill>
                  <a:srgbClr val="D260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  <c:pt idx="14">
                    <c:v>2022</c:v>
                  </c:pt>
                  <c:pt idx="15">
                    <c:v>2023</c:v>
                  </c:pt>
                  <c:pt idx="16">
                    <c:v>2024</c:v>
                  </c:pt>
                  <c:pt idx="17">
                    <c:v>2025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689.3</c:v>
                </c:pt>
                <c:pt idx="1">
                  <c:v>659.2</c:v>
                </c:pt>
                <c:pt idx="2">
                  <c:v>671.2</c:v>
                </c:pt>
                <c:pt idx="3">
                  <c:v>720.2</c:v>
                </c:pt>
                <c:pt idx="4">
                  <c:v>685.5</c:v>
                </c:pt>
                <c:pt idx="5">
                  <c:v>665.7</c:v>
                </c:pt>
                <c:pt idx="6">
                  <c:v>627.3</c:v>
                </c:pt>
                <c:pt idx="7">
                  <c:v>642.3</c:v>
                </c:pt>
                <c:pt idx="8">
                  <c:v>589.7</c:v>
                </c:pt>
                <c:pt idx="9">
                  <c:v>522.6</c:v>
                </c:pt>
                <c:pt idx="10">
                  <c:v>534.2</c:v>
                </c:pt>
                <c:pt idx="11">
                  <c:v>556.5</c:v>
                </c:pt>
                <c:pt idx="12">
                  <c:v>487.4</c:v>
                </c:pt>
                <c:pt idx="13">
                  <c:v>447.5</c:v>
                </c:pt>
                <c:pt idx="14">
                  <c:v>359.4</c:v>
                </c:pt>
                <c:pt idx="15">
                  <c:v>298.6</c:v>
                </c:pt>
                <c:pt idx="16">
                  <c:v>297.8</c:v>
                </c:pt>
                <c:pt idx="17">
                  <c:v>306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CC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F6B3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F6B35"/>
                    </a:solidFill>
                    <a:latin typeface="Arial"/>
                  </a:rPr>
                  <a:t>Records per year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D2601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D2601A"/>
                    </a:solidFill>
                    <a:latin typeface="Arial"/>
                  </a:rPr>
                  <a:t>New per 1,000 records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3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Uncorrected (random background)</c:v>
                </c:pt>
              </c:strCache>
            </c:strRef>
          </c:tx>
          <c:spPr>
            <a:solidFill>
              <a:srgbClr val="7E7C7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Survey truth</c:v>
                  </c:pt>
                  <c:pt idx="1">
                    <c:v>Random CV</c:v>
                  </c:pt>
                  <c:pt idx="2">
                    <c:v>Spatial-block CV</c:v>
                  </c:pt>
                  <c:pt idx="3">
                    <c:v>Spatial CV vs target group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0.718</c:v>
                </c:pt>
                <c:pt idx="1">
                  <c:v>0.849</c:v>
                </c:pt>
                <c:pt idx="2">
                  <c:v>0.77</c:v>
                </c:pt>
                <c:pt idx="3">
                  <c:v>0.667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Corrected (target-group background)</c:v>
                </c:pt>
              </c:strCache>
            </c:strRef>
          </c:tx>
          <c:spPr>
            <a:solidFill>
              <a:srgbClr val="D260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Survey truth</c:v>
                  </c:pt>
                  <c:pt idx="1">
                    <c:v>Random CV</c:v>
                  </c:pt>
                  <c:pt idx="2">
                    <c:v>Spatial-block CV</c:v>
                  </c:pt>
                  <c:pt idx="3">
                    <c:v>Spatial CV vs target group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0.741</c:v>
                </c:pt>
                <c:pt idx="1">
                  <c:v>0.762</c:v>
                </c:pt>
                <c:pt idx="2">
                  <c:v>0.697</c:v>
                </c:pt>
                <c:pt idx="3">
                  <c:v>0.696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D8DCC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3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Says the correction helps · by block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 truth</c:v>
                </c:pt>
              </c:strCache>
            </c:strRef>
          </c:tx>
          <c:spPr>
            <a:solidFill>
              <a:srgbClr val="23302A"/>
            </a:solidFill>
            <a:ln w="38100" cap="flat">
              <a:solidFill>
                <a:srgbClr val="233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3302A"/>
              </a:solidFill>
              <a:ln w="9525" cap="flat">
                <a:solidFill>
                  <a:srgbClr val="233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x0.5</c:v>
                  </c:pt>
                  <c:pt idx="1">
                    <c:v>x1</c:v>
                  </c:pt>
                  <c:pt idx="2">
                    <c:v>x2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61.7</c:v>
                </c:pt>
                <c:pt idx="1">
                  <c:v>61.7</c:v>
                </c:pt>
                <c:pt idx="2">
                  <c:v>61.7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Spatial-block CV</c:v>
                </c:pt>
              </c:strCache>
            </c:strRef>
          </c:tx>
          <c:spPr>
            <a:solidFill>
              <a:srgbClr val="4F6B35"/>
            </a:solidFill>
            <a:ln w="38100" cap="flat">
              <a:solidFill>
                <a:srgbClr val="4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4F6B35"/>
              </a:solidFill>
              <a:ln w="9525" cap="flat">
                <a:solidFill>
                  <a:srgbClr val="4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x0.5</c:v>
                  </c:pt>
                  <c:pt idx="1">
                    <c:v>x1</c:v>
                  </c:pt>
                  <c:pt idx="2">
                    <c:v>x2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12.4</c:v>
                </c:pt>
                <c:pt idx="1">
                  <c:v>16.3</c:v>
                </c:pt>
                <c:pt idx="2">
                  <c:v>17.6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Target-group CV</c:v>
                </c:pt>
              </c:strCache>
            </c:strRef>
          </c:tx>
          <c:spPr>
            <a:solidFill>
              <a:srgbClr val="D2601A"/>
            </a:solidFill>
            <a:ln w="38100" cap="flat">
              <a:solidFill>
                <a:srgbClr val="D260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2601A"/>
              </a:solidFill>
              <a:ln w="9525" cap="flat">
                <a:solidFill>
                  <a:srgbClr val="D260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x0.5</c:v>
                  </c:pt>
                  <c:pt idx="1">
                    <c:v>x1</c:v>
                  </c:pt>
                  <c:pt idx="2">
                    <c:v>x2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66.4</c:v>
                </c:pt>
                <c:pt idx="1">
                  <c:v>66.7</c:v>
                </c:pt>
                <c:pt idx="2">
                  <c:v>60.2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8DCC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3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Optimism of uncorrected models (internal − truth)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Optimism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+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x0.5</c:v>
                  </c:pt>
                  <c:pt idx="1">
                    <c:v>x1</c:v>
                  </c:pt>
                  <c:pt idx="2">
                    <c:v>x2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0.076</c:v>
                </c:pt>
                <c:pt idx="1">
                  <c:v>0.047</c:v>
                </c:pt>
                <c:pt idx="2">
                  <c:v>0.018</c:v>
                </c:pt>
              </c:numCache>
            </c:numRef>
          </c:val>
        </c:ser>
        <c:dLbls>
          <c:numFmt formatCode="+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Mean AUC across 5 models · bias strength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accuracy (vs. known truth)</c:v>
                </c:pt>
              </c:strCache>
            </c:strRef>
          </c:tx>
          <c:spPr>
            <a:solidFill>
              <a:srgbClr val="1F3D2B"/>
            </a:solidFill>
            <a:ln w="50800" cap="flat">
              <a:solidFill>
                <a:srgbClr val="1F3D2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F3D2B"/>
              </a:solidFill>
              <a:ln w="9525" cap="flat">
                <a:solidFill>
                  <a:srgbClr val="1F3D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None</c:v>
                  </c:pt>
                  <c:pt idx="1">
                    <c:v>Realistic</c:v>
                  </c:pt>
                  <c:pt idx="2">
                    <c:v>Exaggerated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0.792</c:v>
                </c:pt>
                <c:pt idx="1">
                  <c:v>0.763</c:v>
                </c:pt>
                <c:pt idx="2">
                  <c:v>0.714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Random-CV accuracy (what gets reported)</c:v>
                </c:pt>
              </c:strCache>
            </c:strRef>
          </c:tx>
          <c:spPr>
            <a:solidFill>
              <a:srgbClr val="D2601A"/>
            </a:solidFill>
            <a:ln w="50800" cap="flat">
              <a:solidFill>
                <a:srgbClr val="D2601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2601A"/>
              </a:solidFill>
              <a:ln w="9525" cap="flat">
                <a:solidFill>
                  <a:srgbClr val="D260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None</c:v>
                  </c:pt>
                  <c:pt idx="1">
                    <c:v>Realistic</c:v>
                  </c:pt>
                  <c:pt idx="2">
                    <c:v>Exaggerated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0.736</c:v>
                </c:pt>
                <c:pt idx="1">
                  <c:v>0.817</c:v>
                </c:pt>
                <c:pt idx="2">
                  <c:v>0.919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65"/>
        </c:scaling>
        <c:delete val="0"/>
        <c:axPos val="l"/>
        <c:majorGridlines>
          <c:spPr>
            <a:ln w="6350" cap="flat">
              <a:solidFill>
                <a:srgbClr val="D8DCC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330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Share of the map that is 'where people go'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leakage</c:v>
                </c:pt>
              </c:strCache>
            </c:strRef>
          </c:tx>
          <c:spPr>
            <a:solidFill>
              <a:srgbClr val="4F6B3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2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2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260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E351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GLM</c:v>
                  </c:pt>
                  <c:pt idx="1">
                    <c:v>CNN</c:v>
                  </c:pt>
                  <c:pt idx="2">
                    <c:v>MLP</c:v>
                  </c:pt>
                  <c:pt idx="3">
                    <c:v>RF</c:v>
                  </c:pt>
                  <c:pt idx="4">
                    <c:v>BRT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0.109</c:v>
                </c:pt>
                <c:pt idx="1">
                  <c:v>0.15</c:v>
                </c:pt>
                <c:pt idx="2">
                  <c:v>0.154</c:v>
                </c:pt>
                <c:pt idx="3">
                  <c:v>0.186</c:v>
                </c:pt>
                <c:pt idx="4">
                  <c:v>0.242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D2B"/>
                </a:solidFill>
                <a:latin typeface="+mn-lt"/>
              </a:rPr>
              <a:t>True AUC under strong bias, mean of 5 models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True AUC</c:v>
                </c:pt>
              </c:strCache>
            </c:strRef>
          </c:tx>
          <c:spPr>
            <a:solidFill>
              <a:srgbClr val="7E7C7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30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E7C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E7C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6B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260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correction</c:v>
                  </c:pt>
                  <c:pt idx="1">
                    <c:v>Geographic thinning</c:v>
                  </c:pt>
                  <c:pt idx="2">
                    <c:v>Bias-covariate</c:v>
                  </c:pt>
                  <c:pt idx="3">
                    <c:v>Target-group background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0.714</c:v>
                </c:pt>
                <c:pt idx="1">
                  <c:v>0.709</c:v>
                </c:pt>
                <c:pt idx="2">
                  <c:v>0.723</c:v>
                </c:pt>
                <c:pt idx="3">
                  <c:v>0.757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2330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E7C72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0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7"/>
          <c:min val="0.68"/>
        </c:scaling>
        <c:delete val="0"/>
        <c:axPos val="l"/>
        <c:majorGridlines>
          <c:spPr>
            <a:ln w="6350" cap="flat">
              <a:solidFill>
                <a:srgbClr val="D8DCC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7C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(speaker 1). Biodiversity maps are built from records people chose to collect. We ask whether AI-predicted maps can show what those records miss, once we account for where people go. Four test beds, four experiments, one honest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chain we test: H1 records are biased and we can measure it; H2 flexible models absorb the bias; H3 standard validation misses it; H4 corrections can be ranked where truth is known; H5 corrected gaps are real. H1-H4 decide whether the method can be trusted; H5 answers the topic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area: the five RESOLVE ecoregions that make up the Western Ghats and Malabar coast, 181k km2 on a 1 km grid. Every cell carries 36 layers: what species respond to (climate, land cover) and what observers respond to (people, roads). The cards are the real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test bed answers 'how do you know?' differently. Virtual species: we built them. disdat: independent absence surveys at 53,044 sites. GeoLifeCLEF: the real-data test of the CNN, next phase. Western Ghats: later records act as the test. The field note lists the model ladder, the three corrections and the four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(speaker 2). Land within 100 m of a road is 19% of the region but holds 65% of the records. Per square km, roadside land is recorded 34 times more than land 2-5 km away. A third of 5 km cells have no record at all, and amphibians, the flagship endemics, reach 1.4% of 1 km cells. Note: 95% of land is within 2.5 km of a road here, so the usual 'within 2.5 km' statistic from Hughes et al. is uninformative; the intensity ratio is the honest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Recording has exploded: 61 times more records per year than in 2008. But each record adds less new knowledge: new species-in-a-new-10km-cell per 1,000 records fell 56%. This reproduces Oliver et al. 2021 locally. Caveat: part of the decline is mechanical, as cells fill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(speaker 3). 226 real species with independent presence/absence surveys. Correcting with a target-group background helps against the surveys in 62% of species x model pairs (mean +0.023 AUC, p = 3e-16). Random cross-validation, the check most papers report, agrees only 4.5% of the time, and its verdict is anti-correlated with the truth. It also inflates skill by +0.10 to +0.33 AUC in 5 of 6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this just a block-size choice? We re-ran spatial CV with the R blockCV package's own ranges at half, one and two times. Larger blocks shrink the optimism from +0.076 to +0.018 AUC, but spatial CV still says the correction helps only 12-18% of the time while the truth says 62%. The target-group check stays near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(speaker 3). With virtual species we know the truth. As sampling bias grows from none to exaggerated, true accuracy falls from 0.79 to 0.71 while random-CV accuracy rises from 0.74 to 0.92. Bias leakage (excess over unbiased): GLM 0.11, CNN 0.15, MLP 0.15, RF 0.19, boosted trees 0.24. So 'AI absorbs bias' holds for flexible models generally; deep learning is not uniquely bad. The CNN had no spatial signal to exploit here, a design limitation; GeoLifeCLEF tests it properly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H4. Under strong bias, target-group background lifts true AUC to 0.757 against 0.714 with no correction, and is the truly best correction for 77-90% of species. Geographic thinning barely helps, matching Inman et al. 2021. The twist: random CV picks bias-covariate conditioning for 83-97% of species, because that model uses accessibility explicitly and the biased held-out records reward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H5 (speaker 4). Corrected predictions move hotspots out of built-up, heavily recorded cells (321 records per cell, 7% built) into dense forest (92% tree cover, 127 records per cell). But did new records later turn up in the predicted gaps? A raw comparison looked good (1.6x more discoveries) but was a saturation artefact. Adjusting for how much each cell was visited later, predicted richness has zero effect. An honest null, for common species. Next we test rare endemics and off-road cells, which is where missed biodiversity would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Scorecard. H1, H3 and H4 are well supported, H2 partly (flexible models absorb more bias, but trees not deep nets are worst), and H5 is open. The method story is solid; the discovery story is what phase B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(speaker 4). Phase B targets exactly where the null may flip: rare endemics and off-road cells, eBird and museum data via GBIF, the CNN on real survey plots, the control for the target-group check's home advantage, and OSM against GRIP4 roads.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only. Use if asked how we know our code is right, or what changed in the literature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AP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AGE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FORES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E7C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EVST · TOPIC 11 · WESTERN GHATS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G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E7C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EVST · TOPIC 11 · WESTERN GHATS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ES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6B0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terrain_shadow"/>
          <p:cNvSpPr/>
          <p:nvPr/>
        </p:nvSpPr>
        <p:spPr>
          <a:xfrm>
            <a:off x="5669280" y="0"/>
            <a:ext cx="7772400" cy="6858000"/>
          </a:xfrm>
          <a:prstGeom prst="rect">
            <a:avLst/>
          </a:prstGeom>
          <a:solidFill>
            <a:srgbClr val="1F3D2B"/>
          </a:solidFill>
          <a:ln/>
          <a:effectLst>
            <a:outerShdw sx="100000" sy="100000" kx="0" ky="0" algn="bl" rotWithShape="0" blurRad="304800" dist="101600" dir="10800000">
              <a:srgbClr val="142016">
                <a:alpha val="55000"/>
              </a:srgbClr>
            </a:outerShdw>
          </a:effectLst>
        </p:spPr>
      </p:sp>
      <p:pic>
        <p:nvPicPr>
          <p:cNvPr id="3" name="a02_zoom_terrain" descr="assets\terrain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0"/>
            <a:ext cx="7772400" cy="6858000"/>
          </a:xfrm>
          <a:prstGeom prst="rect">
            <a:avLst/>
          </a:prstGeom>
        </p:spPr>
      </p:pic>
      <p:sp>
        <p:nvSpPr>
          <p:cNvPr id="4" name="a03_fade_eyebrow"/>
          <p:cNvSpPr txBox="1"/>
          <p:nvPr/>
        </p:nvSpPr>
        <p:spPr>
          <a:xfrm>
            <a:off x="685800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A2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EVST · TOPIC 11 · MID-EVALUATION</a:t>
            </a:r>
            <a:endParaRPr lang="en-US" sz="1200" dirty="0"/>
          </a:p>
        </p:txBody>
      </p:sp>
      <p:sp>
        <p:nvSpPr>
          <p:cNvPr id="5" name="a04_up_title"/>
          <p:cNvSpPr txBox="1"/>
          <p:nvPr/>
        </p:nvSpPr>
        <p:spPr>
          <a:xfrm>
            <a:off x="685800" y="16002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F1F0E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Where the</a:t>
            </a:r>
            <a:endParaRPr lang="en-US" sz="6000" dirty="0"/>
          </a:p>
          <a:p>
            <a:pPr indent="0" marL="0">
              <a:buNone/>
            </a:pPr>
            <a:r>
              <a:rPr lang="en-US" sz="6000" dirty="0">
                <a:solidFill>
                  <a:srgbClr val="F1F0E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roads end</a:t>
            </a:r>
            <a:endParaRPr lang="en-US" sz="6000" dirty="0"/>
          </a:p>
        </p:txBody>
      </p:sp>
      <p:sp>
        <p:nvSpPr>
          <p:cNvPr id="6" name="a05_fade_subtitle"/>
          <p:cNvSpPr txBox="1"/>
          <p:nvPr/>
        </p:nvSpPr>
        <p:spPr>
          <a:xfrm>
            <a:off x="685800" y="3611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Can AI identify biodiversity patterns missing from conventional sampling? A bias-aware test in the Western Ghats.</a:t>
            </a:r>
            <a:endParaRPr lang="en-US" sz="1800" dirty="0"/>
          </a:p>
        </p:txBody>
      </p:sp>
      <p:sp>
        <p:nvSpPr>
          <p:cNvPr id="7" name="a06_fade_team"/>
          <p:cNvSpPr txBox="1"/>
          <p:nvPr/>
        </p:nvSpPr>
        <p:spPr>
          <a:xfrm>
            <a:off x="685800" y="4983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Ponnambalam V · Nandini C · Mohit Nallagatla · Manali Gupta</a:t>
            </a:r>
            <a:endParaRPr lang="en-US" sz="1400" dirty="0"/>
          </a:p>
          <a:p>
            <a:pPr indent="0" marL="0">
              <a:buNone/>
            </a:pPr>
            <a:r>
              <a:rPr lang="en-US" sz="1100" spc="200" kern="0" dirty="0">
                <a:solidFill>
                  <a:srgbClr val="C9D6B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 October 2026</a:t>
            </a:r>
            <a:endParaRPr lang="en-US" sz="1400" dirty="0"/>
          </a:p>
        </p:txBody>
      </p:sp>
      <p:pic>
        <p:nvPicPr>
          <p:cNvPr id="8" name="!!leafT" descr="assets\leaf_branch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751" y="-866134"/>
            <a:ext cx="3840480" cy="3936974"/>
          </a:xfrm>
          <a:prstGeom prst="rect">
            <a:avLst/>
          </a:prstGeom>
        </p:spPr>
      </p:pic>
      <p:pic>
        <p:nvPicPr>
          <p:cNvPr id="9" name="!!leafB" descr="assets\leaf_bott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857" y="4831197"/>
            <a:ext cx="4937760" cy="30913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6B0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53" presetClass="entr" presetSubtype="16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 map of life is also a map of observers</a:t>
            </a:r>
            <a:endParaRPr lang="en-US" sz="3400" dirty="0"/>
          </a:p>
        </p:txBody>
      </p:sp>
      <p:sp>
        <p:nvSpPr>
          <p:cNvPr id="4" name="a03_fade_body"/>
          <p:cNvSpPr txBox="1"/>
          <p:nvPr/>
        </p:nvSpPr>
        <p:spPr>
          <a:xfrm>
            <a:off x="685800" y="16002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Species records pile up where people can reach: roads, towns, reserves.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model trained on those records can learn the observers instead of the species, and still score well.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D2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Our question: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once that bias is removed, do predicted patterns reveal real, unrecorded biodiversity?</a:t>
            </a:r>
            <a:endParaRPr lang="en-US" sz="1600" dirty="0"/>
          </a:p>
        </p:txBody>
      </p:sp>
      <p:sp>
        <p:nvSpPr>
          <p:cNvPr id="5" name="a04_wipe_trail"/>
          <p:cNvSpPr/>
          <p:nvPr/>
        </p:nvSpPr>
        <p:spPr>
          <a:xfrm flipV="1">
            <a:off x="1005840" y="4343400"/>
            <a:ext cx="1600200" cy="1005840"/>
          </a:xfrm>
          <a:prstGeom prst="line">
            <a:avLst/>
          </a:prstGeom>
          <a:noFill/>
          <a:ln w="25400">
            <a:solidFill>
              <a:srgbClr val="D2601A"/>
            </a:solidFill>
            <a:prstDash val="dash"/>
          </a:ln>
        </p:spPr>
      </p:sp>
      <p:sp>
        <p:nvSpPr>
          <p:cNvPr id="6" name="a05_wipe_trail"/>
          <p:cNvSpPr/>
          <p:nvPr/>
        </p:nvSpPr>
        <p:spPr>
          <a:xfrm>
            <a:off x="2606040" y="4343400"/>
            <a:ext cx="1600200" cy="868680"/>
          </a:xfrm>
          <a:prstGeom prst="line">
            <a:avLst/>
          </a:prstGeom>
          <a:noFill/>
          <a:ln w="25400">
            <a:solidFill>
              <a:srgbClr val="D2601A"/>
            </a:solidFill>
            <a:prstDash val="dash"/>
          </a:ln>
        </p:spPr>
      </p:sp>
      <p:sp>
        <p:nvSpPr>
          <p:cNvPr id="7" name="a06_wipe_trail"/>
          <p:cNvSpPr/>
          <p:nvPr/>
        </p:nvSpPr>
        <p:spPr>
          <a:xfrm flipV="1">
            <a:off x="4206240" y="4251960"/>
            <a:ext cx="1600200" cy="960120"/>
          </a:xfrm>
          <a:prstGeom prst="line">
            <a:avLst/>
          </a:prstGeom>
          <a:noFill/>
          <a:ln w="25400">
            <a:solidFill>
              <a:srgbClr val="D2601A"/>
            </a:solidFill>
            <a:prstDash val="dash"/>
          </a:ln>
        </p:spPr>
      </p:sp>
      <p:sp>
        <p:nvSpPr>
          <p:cNvPr id="8" name="a07_wipe_trail"/>
          <p:cNvSpPr/>
          <p:nvPr/>
        </p:nvSpPr>
        <p:spPr>
          <a:xfrm>
            <a:off x="5806440" y="4251960"/>
            <a:ext cx="1600200" cy="868680"/>
          </a:xfrm>
          <a:prstGeom prst="line">
            <a:avLst/>
          </a:prstGeom>
          <a:noFill/>
          <a:ln w="25400">
            <a:solidFill>
              <a:srgbClr val="D2601A"/>
            </a:solidFill>
            <a:prstDash val="dash"/>
          </a:ln>
        </p:spPr>
      </p:sp>
      <p:sp>
        <p:nvSpPr>
          <p:cNvPr id="9" name="a08_zoom_waypoint"/>
          <p:cNvSpPr/>
          <p:nvPr/>
        </p:nvSpPr>
        <p:spPr>
          <a:xfrm>
            <a:off x="822960" y="5166360"/>
            <a:ext cx="365760" cy="365760"/>
          </a:xfrm>
          <a:prstGeom prst="ellipse">
            <a:avLst/>
          </a:prstGeom>
          <a:solidFill>
            <a:srgbClr val="1F3D2B"/>
          </a:solidFill>
          <a:ln w="19050">
            <a:solidFill>
              <a:srgbClr val="1F3D2B"/>
            </a:solidFill>
            <a:prstDash val="solid"/>
          </a:ln>
          <a:effectLst>
            <a:outerShdw sx="100000" sy="100000" kx="0" ky="0" algn="bl" rotWithShape="0" blurRad="76200" dist="25400" dir="2700000">
              <a:srgbClr val="142016">
                <a:alpha val="32000"/>
              </a:srgbClr>
            </a:outerShdw>
          </a:effectLst>
        </p:spPr>
      </p:sp>
      <p:sp>
        <p:nvSpPr>
          <p:cNvPr id="10" name="a09_fade_waylabel"/>
          <p:cNvSpPr txBox="1"/>
          <p:nvPr/>
        </p:nvSpPr>
        <p:spPr>
          <a:xfrm>
            <a:off x="-137160" y="5623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H1  </a:t>
            </a:r>
            <a:pPr algn="ctr"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Bias is measurable</a:t>
            </a:r>
            <a:endParaRPr lang="en-US" sz="1300" dirty="0"/>
          </a:p>
        </p:txBody>
      </p:sp>
      <p:sp>
        <p:nvSpPr>
          <p:cNvPr id="11" name="a10_zoom_waypoint"/>
          <p:cNvSpPr/>
          <p:nvPr/>
        </p:nvSpPr>
        <p:spPr>
          <a:xfrm>
            <a:off x="2423160" y="4160520"/>
            <a:ext cx="365760" cy="365760"/>
          </a:xfrm>
          <a:prstGeom prst="ellipse">
            <a:avLst/>
          </a:prstGeom>
          <a:solidFill>
            <a:srgbClr val="1F3D2B"/>
          </a:solidFill>
          <a:ln w="19050">
            <a:solidFill>
              <a:srgbClr val="1F3D2B"/>
            </a:solidFill>
            <a:prstDash val="solid"/>
          </a:ln>
          <a:effectLst>
            <a:outerShdw sx="100000" sy="100000" kx="0" ky="0" algn="bl" rotWithShape="0" blurRad="76200" dist="25400" dir="2700000">
              <a:srgbClr val="142016">
                <a:alpha val="32000"/>
              </a:srgbClr>
            </a:outerShdw>
          </a:effectLst>
        </p:spPr>
      </p:sp>
      <p:sp>
        <p:nvSpPr>
          <p:cNvPr id="12" name="a11_fade_waylabel"/>
          <p:cNvSpPr txBox="1"/>
          <p:nvPr/>
        </p:nvSpPr>
        <p:spPr>
          <a:xfrm>
            <a:off x="14630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H2  </a:t>
            </a:r>
            <a:pPr algn="ctr"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Flexible models absorb it</a:t>
            </a:r>
            <a:endParaRPr lang="en-US" sz="1300" dirty="0"/>
          </a:p>
        </p:txBody>
      </p:sp>
      <p:sp>
        <p:nvSpPr>
          <p:cNvPr id="13" name="a12_zoom_waypoint"/>
          <p:cNvSpPr/>
          <p:nvPr/>
        </p:nvSpPr>
        <p:spPr>
          <a:xfrm>
            <a:off x="4023360" y="5029200"/>
            <a:ext cx="365760" cy="365760"/>
          </a:xfrm>
          <a:prstGeom prst="ellipse">
            <a:avLst/>
          </a:prstGeom>
          <a:solidFill>
            <a:srgbClr val="1F3D2B"/>
          </a:solidFill>
          <a:ln w="19050">
            <a:solidFill>
              <a:srgbClr val="1F3D2B"/>
            </a:solidFill>
            <a:prstDash val="solid"/>
          </a:ln>
          <a:effectLst>
            <a:outerShdw sx="100000" sy="100000" kx="0" ky="0" algn="bl" rotWithShape="0" blurRad="76200" dist="25400" dir="2700000">
              <a:srgbClr val="142016">
                <a:alpha val="32000"/>
              </a:srgbClr>
            </a:outerShdw>
          </a:effectLst>
        </p:spPr>
      </p:sp>
      <p:sp>
        <p:nvSpPr>
          <p:cNvPr id="14" name="a13_fade_waylabel"/>
          <p:cNvSpPr txBox="1"/>
          <p:nvPr/>
        </p:nvSpPr>
        <p:spPr>
          <a:xfrm>
            <a:off x="3063240" y="5486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H3  </a:t>
            </a:r>
            <a:pPr algn="ctr"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Standard checks miss it</a:t>
            </a:r>
            <a:endParaRPr lang="en-US" sz="1300" dirty="0"/>
          </a:p>
        </p:txBody>
      </p:sp>
      <p:sp>
        <p:nvSpPr>
          <p:cNvPr id="15" name="a14_zoom_waypoint"/>
          <p:cNvSpPr/>
          <p:nvPr/>
        </p:nvSpPr>
        <p:spPr>
          <a:xfrm>
            <a:off x="5623560" y="4069080"/>
            <a:ext cx="365760" cy="365760"/>
          </a:xfrm>
          <a:prstGeom prst="ellipse">
            <a:avLst/>
          </a:prstGeom>
          <a:solidFill>
            <a:srgbClr val="1F3D2B"/>
          </a:solidFill>
          <a:ln w="19050">
            <a:solidFill>
              <a:srgbClr val="1F3D2B"/>
            </a:solidFill>
            <a:prstDash val="solid"/>
          </a:ln>
          <a:effectLst>
            <a:outerShdw sx="100000" sy="100000" kx="0" ky="0" algn="bl" rotWithShape="0" blurRad="76200" dist="25400" dir="2700000">
              <a:srgbClr val="142016">
                <a:alpha val="32000"/>
              </a:srgbClr>
            </a:outerShdw>
          </a:effectLst>
        </p:spPr>
      </p:sp>
      <p:sp>
        <p:nvSpPr>
          <p:cNvPr id="16" name="a15_fade_waylabel"/>
          <p:cNvSpPr txBox="1"/>
          <p:nvPr/>
        </p:nvSpPr>
        <p:spPr>
          <a:xfrm>
            <a:off x="46634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H4  </a:t>
            </a:r>
            <a:pPr algn="ctr"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Corrections can be ranked</a:t>
            </a:r>
            <a:endParaRPr lang="en-US" sz="1300" dirty="0"/>
          </a:p>
        </p:txBody>
      </p:sp>
      <p:sp>
        <p:nvSpPr>
          <p:cNvPr id="17" name="a16_zoom_waypoint"/>
          <p:cNvSpPr/>
          <p:nvPr/>
        </p:nvSpPr>
        <p:spPr>
          <a:xfrm>
            <a:off x="7223760" y="4937760"/>
            <a:ext cx="365760" cy="365760"/>
          </a:xfrm>
          <a:prstGeom prst="ellipse">
            <a:avLst/>
          </a:prstGeom>
          <a:solidFill>
            <a:srgbClr val="F1F0E8"/>
          </a:solidFill>
          <a:ln w="19050">
            <a:solidFill>
              <a:srgbClr val="1F3D2B"/>
            </a:solidFill>
            <a:prstDash val="solid"/>
          </a:ln>
          <a:effectLst>
            <a:outerShdw sx="100000" sy="100000" kx="0" ky="0" algn="bl" rotWithShape="0" blurRad="76200" dist="25400" dir="2700000">
              <a:srgbClr val="142016">
                <a:alpha val="32000"/>
              </a:srgbClr>
            </a:outerShdw>
          </a:effectLst>
        </p:spPr>
      </p:sp>
      <p:sp>
        <p:nvSpPr>
          <p:cNvPr id="18" name="a17_fade_waylabel"/>
          <p:cNvSpPr txBox="1"/>
          <p:nvPr/>
        </p:nvSpPr>
        <p:spPr>
          <a:xfrm>
            <a:off x="6263640" y="5394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H5  </a:t>
            </a:r>
            <a:pPr algn="ctr"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Corrected gaps are real</a:t>
            </a:r>
            <a:endParaRPr lang="en-US" sz="1300" dirty="0"/>
          </a:p>
        </p:txBody>
      </p:sp>
      <p:sp>
        <p:nvSpPr>
          <p:cNvPr id="19" name="a18_up_print_back"/>
          <p:cNvSpPr/>
          <p:nvPr/>
        </p:nvSpPr>
        <p:spPr>
          <a:xfrm rot="180000">
            <a:off x="8183880" y="1417320"/>
            <a:ext cx="3429000" cy="2817628"/>
          </a:xfrm>
          <a:prstGeom prst="rect">
            <a:avLst/>
          </a:prstGeom>
          <a:solidFill>
            <a:srgbClr val="F7F6EF"/>
          </a:solidFill>
          <a:ln w="76200">
            <a:solidFill>
              <a:srgbClr val="F7F6EF"/>
            </a:solidFill>
            <a:prstDash val="solid"/>
          </a:ln>
          <a:effectLst>
            <a:outerShdw sx="100000" sy="100000" kx="0" ky="0" algn="bl" rotWithShape="0" blurRad="203200" dist="76200" dir="2700000">
              <a:srgbClr val="142016">
                <a:alpha val="32000"/>
              </a:srgbClr>
            </a:outerShdw>
          </a:effectLst>
        </p:spPr>
      </p:sp>
      <p:pic>
        <p:nvPicPr>
          <p:cNvPr id="20" name="a19_up_print" descr="assets\terrain_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80000">
            <a:off x="8183880" y="1417320"/>
            <a:ext cx="3429000" cy="2817628"/>
          </a:xfrm>
          <a:prstGeom prst="rect">
            <a:avLst/>
          </a:prstGeom>
        </p:spPr>
      </p:pic>
      <p:sp>
        <p:nvSpPr>
          <p:cNvPr id="21" name="a20_fade_printcap"/>
          <p:cNvSpPr txBox="1"/>
          <p:nvPr/>
        </p:nvSpPr>
        <p:spPr>
          <a:xfrm>
            <a:off x="8183880" y="44348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7C7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Records follow the easy paths through a landscape.</a:t>
            </a:r>
            <a:endParaRPr lang="en-US" sz="1100" dirty="0"/>
          </a:p>
        </p:txBody>
      </p:sp>
      <p:pic>
        <p:nvPicPr>
          <p:cNvPr id="22" name="!!leafP" descr="assets\leaf_pine_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4206240"/>
            <a:ext cx="1828800" cy="2571750"/>
          </a:xfrm>
          <a:prstGeom prst="rect">
            <a:avLst/>
          </a:prstGeom>
        </p:spPr>
      </p:pic>
      <p:pic>
        <p:nvPicPr>
          <p:cNvPr id="23" name="!!leafT" descr="assets\leaf_branch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887" y="-735205"/>
            <a:ext cx="2651760" cy="27183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9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9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9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9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Western Ghats, in 36 paper layers</a:t>
            </a:r>
            <a:endParaRPr lang="en-US" sz="3400" dirty="0"/>
          </a:p>
        </p:txBody>
      </p:sp>
      <p:pic>
        <p:nvPicPr>
          <p:cNvPr id="4" name="a03_up_region" descr="assets\map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1861902" cy="5074920"/>
          </a:xfrm>
          <a:prstGeom prst="rect">
            <a:avLst/>
          </a:prstGeom>
        </p:spPr>
      </p:pic>
      <p:sp>
        <p:nvSpPr>
          <p:cNvPr id="5" name="a04_fade_regionlabel"/>
          <p:cNvSpPr txBox="1"/>
          <p:nvPr/>
        </p:nvSpPr>
        <p:spPr>
          <a:xfrm>
            <a:off x="1371600" y="1600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181,347 km²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8°N – 22°N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 km grid · 180,299 cells</a:t>
            </a:r>
            <a:endParaRPr lang="en-US" sz="1100" dirty="0"/>
          </a:p>
        </p:txBody>
      </p:sp>
      <p:sp>
        <p:nvSpPr>
          <p:cNvPr id="6" name="a05_up_tile_back"/>
          <p:cNvSpPr/>
          <p:nvPr/>
        </p:nvSpPr>
        <p:spPr>
          <a:xfrm rot="-120000">
            <a:off x="2926080" y="1600200"/>
            <a:ext cx="1207008" cy="3146136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</p:sp>
      <p:pic>
        <p:nvPicPr>
          <p:cNvPr id="7" name="a06_up_tile" descr="assets\tile_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2926080" y="1600200"/>
            <a:ext cx="1207008" cy="3146136"/>
          </a:xfrm>
          <a:prstGeom prst="rect">
            <a:avLst/>
          </a:prstGeom>
        </p:spPr>
      </p:pic>
      <p:sp>
        <p:nvSpPr>
          <p:cNvPr id="8" name="a07_fade_tilelabel"/>
          <p:cNvSpPr txBox="1"/>
          <p:nvPr/>
        </p:nvSpPr>
        <p:spPr>
          <a:xfrm>
            <a:off x="2834640" y="4837776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RAINFALL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7C7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WorldClim 2.1</a:t>
            </a:r>
            <a:endParaRPr lang="en-US" sz="1000" dirty="0"/>
          </a:p>
        </p:txBody>
      </p:sp>
      <p:sp>
        <p:nvSpPr>
          <p:cNvPr id="9" name="a08_up_tile_back"/>
          <p:cNvSpPr/>
          <p:nvPr/>
        </p:nvSpPr>
        <p:spPr>
          <a:xfrm rot="90000">
            <a:off x="4389120" y="1600200"/>
            <a:ext cx="1207008" cy="3146136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</p:sp>
      <p:pic>
        <p:nvPicPr>
          <p:cNvPr id="10" name="a09_up_tile" descr="assets\tile_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00">
            <a:off x="4389120" y="1600200"/>
            <a:ext cx="1207008" cy="3146136"/>
          </a:xfrm>
          <a:prstGeom prst="rect">
            <a:avLst/>
          </a:prstGeom>
        </p:spPr>
      </p:pic>
      <p:sp>
        <p:nvSpPr>
          <p:cNvPr id="11" name="a10_fade_tilelabel"/>
          <p:cNvSpPr txBox="1"/>
          <p:nvPr/>
        </p:nvSpPr>
        <p:spPr>
          <a:xfrm>
            <a:off x="4297680" y="4837776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TREE COVER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7C7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ESA WorldCover</a:t>
            </a:r>
            <a:endParaRPr lang="en-US" sz="1000" dirty="0"/>
          </a:p>
        </p:txBody>
      </p:sp>
      <p:sp>
        <p:nvSpPr>
          <p:cNvPr id="12" name="a11_up_tile_back"/>
          <p:cNvSpPr/>
          <p:nvPr/>
        </p:nvSpPr>
        <p:spPr>
          <a:xfrm rot="-90000">
            <a:off x="5852160" y="1600200"/>
            <a:ext cx="1207008" cy="3146136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</p:sp>
      <p:pic>
        <p:nvPicPr>
          <p:cNvPr id="13" name="a12_up_tile" descr="assets\tile_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">
            <a:off x="5852160" y="1600200"/>
            <a:ext cx="1207008" cy="3146136"/>
          </a:xfrm>
          <a:prstGeom prst="rect">
            <a:avLst/>
          </a:prstGeom>
        </p:spPr>
      </p:pic>
      <p:sp>
        <p:nvSpPr>
          <p:cNvPr id="14" name="a13_fade_tilelabel"/>
          <p:cNvSpPr txBox="1"/>
          <p:nvPr/>
        </p:nvSpPr>
        <p:spPr>
          <a:xfrm>
            <a:off x="5760720" y="4837776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PEOPLE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7C7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WorldPop 2020</a:t>
            </a:r>
            <a:endParaRPr lang="en-US" sz="1000" dirty="0"/>
          </a:p>
        </p:txBody>
      </p:sp>
      <p:sp>
        <p:nvSpPr>
          <p:cNvPr id="15" name="a14_up_tile_back"/>
          <p:cNvSpPr/>
          <p:nvPr/>
        </p:nvSpPr>
        <p:spPr>
          <a:xfrm rot="120000">
            <a:off x="7315200" y="1600200"/>
            <a:ext cx="1207008" cy="3146136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</p:sp>
      <p:pic>
        <p:nvPicPr>
          <p:cNvPr id="16" name="a15_up_tile" descr="assets\tile_road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7315200" y="1600200"/>
            <a:ext cx="1207008" cy="3146136"/>
          </a:xfrm>
          <a:prstGeom prst="rect">
            <a:avLst/>
          </a:prstGeom>
        </p:spPr>
      </p:pic>
      <p:sp>
        <p:nvSpPr>
          <p:cNvPr id="17" name="a16_fade_tilelabel"/>
          <p:cNvSpPr txBox="1"/>
          <p:nvPr/>
        </p:nvSpPr>
        <p:spPr>
          <a:xfrm>
            <a:off x="7223760" y="4837776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 DISTANCE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E7C72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OpenStreetMap</a:t>
            </a:r>
            <a:endParaRPr lang="en-US" sz="1000" dirty="0"/>
          </a:p>
        </p:txBody>
      </p:sp>
      <p:sp>
        <p:nvSpPr>
          <p:cNvPr id="18" name="a17_up_fieldtag"/>
          <p:cNvSpPr/>
          <p:nvPr/>
        </p:nvSpPr>
        <p:spPr>
          <a:xfrm rot="-96000">
            <a:off x="9006840" y="1463040"/>
            <a:ext cx="2788920" cy="214884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 · DATASETS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RECORDS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iNaturalist open data · 493,227 research-grade records · 10,219 species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HABITAT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19 climate layers, elevation, 9 land-cover fractions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ACCESS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population, distance to roads, towns, cities, rivers, reserves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TRUTH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disdat (226 species, 53,044 survey sites) · GeoLifeCLEF 2024</a:t>
            </a:r>
            <a:endParaRPr lang="en-US" sz="1000" dirty="0"/>
          </a:p>
        </p:txBody>
      </p:sp>
      <p:pic>
        <p:nvPicPr>
          <p:cNvPr id="19" name="!!leafP" descr="assets\leaf_pine_m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5543" y="4526280"/>
            <a:ext cx="1737360" cy="24431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Four ways to find the truth</a:t>
            </a:r>
            <a:endParaRPr lang="en-US" sz="3400" dirty="0"/>
          </a:p>
        </p:txBody>
      </p:sp>
      <p:sp>
        <p:nvSpPr>
          <p:cNvPr id="4" name="a03_left_terrace_back"/>
          <p:cNvSpPr/>
          <p:nvPr/>
        </p:nvSpPr>
        <p:spPr>
          <a:xfrm>
            <a:off x="768096" y="1682496"/>
            <a:ext cx="6492240" cy="987552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left_terrace"/>
          <p:cNvSpPr/>
          <p:nvPr/>
        </p:nvSpPr>
        <p:spPr>
          <a:xfrm>
            <a:off x="685800" y="1600200"/>
            <a:ext cx="6492240" cy="987552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6" name="a05_left_bedkey"/>
          <p:cNvSpPr txBox="1"/>
          <p:nvPr/>
        </p:nvSpPr>
        <p:spPr>
          <a:xfrm>
            <a:off x="822960" y="1709928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T1</a:t>
            </a:r>
            <a:endParaRPr lang="en-US" sz="3400" dirty="0"/>
          </a:p>
        </p:txBody>
      </p:sp>
      <p:sp>
        <p:nvSpPr>
          <p:cNvPr id="7" name="a06_left_beddesc"/>
          <p:cNvSpPr txBox="1"/>
          <p:nvPr/>
        </p:nvSpPr>
        <p:spPr>
          <a:xfrm>
            <a:off x="164592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VIRTUAL SPECIES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Invented on real Ghats layers, then observed through the real road bias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35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Truth: known exactly, by construction</a:t>
            </a:r>
            <a:endParaRPr lang="en-US" sz="1200" dirty="0"/>
          </a:p>
        </p:txBody>
      </p:sp>
      <p:sp>
        <p:nvSpPr>
          <p:cNvPr id="8" name="a07_left_terrace_back"/>
          <p:cNvSpPr/>
          <p:nvPr/>
        </p:nvSpPr>
        <p:spPr>
          <a:xfrm>
            <a:off x="1152144" y="2852928"/>
            <a:ext cx="6492240" cy="987552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9" name="a08_left_terrace"/>
          <p:cNvSpPr/>
          <p:nvPr/>
        </p:nvSpPr>
        <p:spPr>
          <a:xfrm>
            <a:off x="1069848" y="2770632"/>
            <a:ext cx="6492240" cy="987552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10" name="a09_left_bedkey"/>
          <p:cNvSpPr txBox="1"/>
          <p:nvPr/>
        </p:nvSpPr>
        <p:spPr>
          <a:xfrm>
            <a:off x="1207008" y="288036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T2</a:t>
            </a:r>
            <a:endParaRPr lang="en-US" sz="3400" dirty="0"/>
          </a:p>
        </p:txBody>
      </p:sp>
      <p:sp>
        <p:nvSpPr>
          <p:cNvPr id="11" name="a10_left_beddesc"/>
          <p:cNvSpPr txBox="1"/>
          <p:nvPr/>
        </p:nvSpPr>
        <p:spPr>
          <a:xfrm>
            <a:off x="2029968" y="286207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DISDAT / NCEAS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226 real species in 6 regions: the data behind Elith 2006 and Phillips 2009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35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Truth: 53,044 independent survey sites</a:t>
            </a:r>
            <a:endParaRPr lang="en-US" sz="1200" dirty="0"/>
          </a:p>
        </p:txBody>
      </p:sp>
      <p:sp>
        <p:nvSpPr>
          <p:cNvPr id="12" name="a11_left_terrace_back"/>
          <p:cNvSpPr/>
          <p:nvPr/>
        </p:nvSpPr>
        <p:spPr>
          <a:xfrm>
            <a:off x="1536192" y="4023360"/>
            <a:ext cx="6492240" cy="987552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13" name="a12_left_terrace"/>
          <p:cNvSpPr/>
          <p:nvPr/>
        </p:nvSpPr>
        <p:spPr>
          <a:xfrm>
            <a:off x="1453896" y="3941064"/>
            <a:ext cx="6492240" cy="987552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14" name="a13_left_bedkey"/>
          <p:cNvSpPr txBox="1"/>
          <p:nvPr/>
        </p:nvSpPr>
        <p:spPr>
          <a:xfrm>
            <a:off x="1591056" y="4050792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T3</a:t>
            </a:r>
            <a:endParaRPr lang="en-US" sz="3400" dirty="0"/>
          </a:p>
        </p:txBody>
      </p:sp>
      <p:sp>
        <p:nvSpPr>
          <p:cNvPr id="15" name="a14_left_beddesc"/>
          <p:cNvSpPr txBox="1"/>
          <p:nvPr/>
        </p:nvSpPr>
        <p:spPr>
          <a:xfrm>
            <a:off x="2414016" y="403250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GEOLIFECLEF 2024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5.08 M European plant records with 88,987 survey plots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35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Truth: survey plots (phase B)</a:t>
            </a:r>
            <a:endParaRPr lang="en-US" sz="1200" dirty="0"/>
          </a:p>
        </p:txBody>
      </p:sp>
      <p:sp>
        <p:nvSpPr>
          <p:cNvPr id="16" name="a15_left_terrace_back"/>
          <p:cNvSpPr/>
          <p:nvPr/>
        </p:nvSpPr>
        <p:spPr>
          <a:xfrm>
            <a:off x="1920240" y="5193792"/>
            <a:ext cx="6492240" cy="987552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17" name="a16_left_terrace"/>
          <p:cNvSpPr/>
          <p:nvPr/>
        </p:nvSpPr>
        <p:spPr>
          <a:xfrm>
            <a:off x="1837944" y="5111496"/>
            <a:ext cx="6492240" cy="987552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18" name="a17_left_bedkey"/>
          <p:cNvSpPr txBox="1"/>
          <p:nvPr/>
        </p:nvSpPr>
        <p:spPr>
          <a:xfrm>
            <a:off x="1975104" y="5221224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T4</a:t>
            </a:r>
            <a:endParaRPr lang="en-US" sz="3400" dirty="0"/>
          </a:p>
        </p:txBody>
      </p:sp>
      <p:sp>
        <p:nvSpPr>
          <p:cNvPr id="19" name="a18_left_beddesc"/>
          <p:cNvSpPr txBox="1"/>
          <p:nvPr/>
        </p:nvSpPr>
        <p:spPr>
          <a:xfrm>
            <a:off x="2798064" y="520293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WESTERN GHATS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493,227 iNaturalist records, 2008 – 2026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E35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Truth: records that arrive after 2018</a:t>
            </a:r>
            <a:endParaRPr lang="en-US" sz="1200" dirty="0"/>
          </a:p>
        </p:txBody>
      </p:sp>
      <p:sp>
        <p:nvSpPr>
          <p:cNvPr id="20" name="a19_up_fieldtag"/>
          <p:cNvSpPr/>
          <p:nvPr/>
        </p:nvSpPr>
        <p:spPr>
          <a:xfrm rot="-96000">
            <a:off x="8549640" y="3291840"/>
            <a:ext cx="3246120" cy="224028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 · METHOD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MODELS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GLM → MaxEnt → boosted trees → random forest → neural net → patch CNN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CORRECTIONS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target-group background · geographic thinning · bias-covariate conditioning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CHECKS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random CV · spatial-block CV · target-group CV · truth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MEASURES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AUC · bias leakage = share of the map explained by access layers</a:t>
            </a:r>
            <a:endParaRPr lang="en-US" sz="1000" dirty="0"/>
          </a:p>
        </p:txBody>
      </p:sp>
      <p:pic>
        <p:nvPicPr>
          <p:cNvPr id="21" name="!!leafT" descr="assets\leaf_branch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-710107"/>
            <a:ext cx="2743200" cy="28121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8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H1 · THE BIAS IS REAL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Records cling to the roads</a:t>
            </a:r>
            <a:endParaRPr lang="en-US" sz="3400" dirty="0"/>
          </a:p>
        </p:txBody>
      </p:sp>
      <p:sp>
        <p:nvSpPr>
          <p:cNvPr id="4" name="a03_up_stat"/>
          <p:cNvSpPr txBox="1"/>
          <p:nvPr/>
        </p:nvSpPr>
        <p:spPr>
          <a:xfrm>
            <a:off x="685800" y="1417320"/>
            <a:ext cx="2743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34×</a:t>
            </a:r>
            <a:endParaRPr lang="en-US" sz="8000" dirty="0"/>
          </a:p>
        </p:txBody>
      </p:sp>
      <p:sp>
        <p:nvSpPr>
          <p:cNvPr id="5" name="a04_fade_statcap"/>
          <p:cNvSpPr txBox="1"/>
          <p:nvPr/>
        </p:nvSpPr>
        <p:spPr>
          <a:xfrm>
            <a:off x="685800" y="2682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more records per km² beside a road (0–100 m) than 2–5 km away</a:t>
            </a:r>
            <a:endParaRPr lang="en-US" sz="1300" dirty="0"/>
          </a:p>
        </p:txBody>
      </p:sp>
      <p:sp>
        <p:nvSpPr>
          <p:cNvPr id="6" name="a05_up_stat2"/>
          <p:cNvSpPr txBox="1"/>
          <p:nvPr/>
        </p:nvSpPr>
        <p:spPr>
          <a:xfrm>
            <a:off x="3931920" y="141732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65%</a:t>
            </a:r>
            <a:endParaRPr lang="en-US" sz="40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records sit on the 19% of land within 100 m of a road</a:t>
            </a:r>
            <a:endParaRPr lang="en-US" sz="4000" dirty="0"/>
          </a:p>
        </p:txBody>
      </p:sp>
      <p:sp>
        <p:nvSpPr>
          <p:cNvPr id="7" name="a06_fade_chartcard_back"/>
          <p:cNvSpPr/>
          <p:nvPr/>
        </p:nvSpPr>
        <p:spPr>
          <a:xfrm>
            <a:off x="768096" y="3511296"/>
            <a:ext cx="5989320" cy="278892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8" name="a07_fade_chartcard"/>
          <p:cNvSpPr/>
          <p:nvPr/>
        </p:nvSpPr>
        <p:spPr>
          <a:xfrm>
            <a:off x="685800" y="3429000"/>
            <a:ext cx="5989320" cy="278892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9" name="a08_wipe_roadchart" descr=""/>
          <p:cNvGraphicFramePr/>
          <p:nvPr/>
        </p:nvGraphicFramePr>
        <p:xfrm>
          <a:off x="868680" y="3520440"/>
          <a:ext cx="56235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0" name="a09_up_recmap" descr="assets\map_reco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05840"/>
            <a:ext cx="1878676" cy="5120640"/>
          </a:xfrm>
          <a:prstGeom prst="rect">
            <a:avLst/>
          </a:prstGeom>
        </p:spPr>
      </p:pic>
      <p:sp>
        <p:nvSpPr>
          <p:cNvPr id="11" name="a10_fade_maplabel"/>
          <p:cNvSpPr txBox="1"/>
          <p:nvPr/>
        </p:nvSpPr>
        <p:spPr>
          <a:xfrm>
            <a:off x="6949440" y="6199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7C7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Records per 5 km cell</a:t>
            </a:r>
            <a:endParaRPr lang="en-US" sz="1000" dirty="0"/>
          </a:p>
        </p:txBody>
      </p:sp>
      <p:sp>
        <p:nvSpPr>
          <p:cNvPr id="12" name="a11_fade_coverage"/>
          <p:cNvSpPr txBox="1"/>
          <p:nvPr/>
        </p:nvSpPr>
        <p:spPr>
          <a:xfrm>
            <a:off x="9555480" y="141732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66.7%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5 km cells hold any record</a:t>
            </a:r>
            <a:endParaRPr lang="en-US" sz="1200" dirty="0"/>
          </a:p>
          <a:p>
            <a:pPr indent="0" marL="0">
              <a:buNone/>
            </a:pPr>
            <a:r>
              <a:rPr lang="en-US" sz="26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14.4%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1 km cells</a:t>
            </a:r>
            <a:endParaRPr lang="en-US" sz="1200" dirty="0"/>
          </a:p>
          <a:p>
            <a:pPr indent="0" marL="0">
              <a:buNone/>
            </a:pPr>
            <a:r>
              <a:rPr lang="en-US" sz="26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1.4%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1 km cells for amphibians</a:t>
            </a:r>
            <a:endParaRPr lang="en-US" sz="1200" dirty="0"/>
          </a:p>
        </p:txBody>
      </p:sp>
      <p:sp>
        <p:nvSpPr>
          <p:cNvPr id="13" name="a12_up_fieldtag"/>
          <p:cNvSpPr/>
          <p:nvPr/>
        </p:nvSpPr>
        <p:spPr>
          <a:xfrm rot="-96000">
            <a:off x="9418320" y="4846320"/>
            <a:ext cx="2423160" cy="118872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iNaturalist records · OSM roads at 100 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METHOD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share of records ÷ share of land, by distance band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9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H1 · MORE DATA, LESS NEWS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Sixty-one times the records, half the discovery</a:t>
            </a:r>
            <a:endParaRPr lang="en-US" sz="3400" dirty="0"/>
          </a:p>
        </p:txBody>
      </p:sp>
      <p:sp>
        <p:nvSpPr>
          <p:cNvPr id="4" name="a03_fade_combocard_back"/>
          <p:cNvSpPr/>
          <p:nvPr/>
        </p:nvSpPr>
        <p:spPr>
          <a:xfrm>
            <a:off x="768096" y="1591056"/>
            <a:ext cx="7589520" cy="466344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fade_combocard"/>
          <p:cNvSpPr/>
          <p:nvPr/>
        </p:nvSpPr>
        <p:spPr>
          <a:xfrm>
            <a:off x="685800" y="1508760"/>
            <a:ext cx="7589520" cy="466344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6" name="a05_wipe_olivercombo" descr=""/>
          <p:cNvGraphicFramePr/>
          <p:nvPr/>
        </p:nvGraphicFramePr>
        <p:xfrm>
          <a:off x="868680" y="1645920"/>
          <a:ext cx="7223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06_up_stat"/>
          <p:cNvSpPr txBox="1"/>
          <p:nvPr/>
        </p:nvSpPr>
        <p:spPr>
          <a:xfrm>
            <a:off x="8732520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×61</a:t>
            </a:r>
            <a:endParaRPr lang="en-US" sz="6000" dirty="0"/>
          </a:p>
        </p:txBody>
      </p:sp>
      <p:sp>
        <p:nvSpPr>
          <p:cNvPr id="8" name="a07_fade_statcap"/>
          <p:cNvSpPr txBox="1"/>
          <p:nvPr/>
        </p:nvSpPr>
        <p:spPr>
          <a:xfrm>
            <a:off x="8732520" y="2423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records per year, 2008 → 2025 (1,442 → 88,636)</a:t>
            </a:r>
            <a:endParaRPr lang="en-US" sz="1300" dirty="0"/>
          </a:p>
        </p:txBody>
      </p:sp>
      <p:sp>
        <p:nvSpPr>
          <p:cNvPr id="9" name="a08_up_stat"/>
          <p:cNvSpPr txBox="1"/>
          <p:nvPr/>
        </p:nvSpPr>
        <p:spPr>
          <a:xfrm>
            <a:off x="8732520" y="2971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−56%</a:t>
            </a:r>
            <a:endParaRPr lang="en-US" sz="6000" dirty="0"/>
          </a:p>
        </p:txBody>
      </p:sp>
      <p:sp>
        <p:nvSpPr>
          <p:cNvPr id="10" name="a09_fade_statcap"/>
          <p:cNvSpPr txBox="1"/>
          <p:nvPr/>
        </p:nvSpPr>
        <p:spPr>
          <a:xfrm>
            <a:off x="8732520" y="3931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new species-in-place found per 1,000 records (689 → 306)</a:t>
            </a:r>
            <a:endParaRPr lang="en-US" sz="1300" dirty="0"/>
          </a:p>
        </p:txBody>
      </p:sp>
      <p:sp>
        <p:nvSpPr>
          <p:cNvPr id="11" name="a10_up_fieldtag"/>
          <p:cNvSpPr/>
          <p:nvPr/>
        </p:nvSpPr>
        <p:spPr>
          <a:xfrm rot="-96000">
            <a:off x="8686800" y="4800600"/>
            <a:ext cx="3063240" cy="105156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METHOD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Oliver et al. 2021 effectiveness indicator, 10 km cells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CAVEAT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partly mechanical as cells fill up</a:t>
            </a:r>
            <a:endParaRPr lang="en-US" sz="1000" dirty="0"/>
          </a:p>
        </p:txBody>
      </p:sp>
      <p:pic>
        <p:nvPicPr>
          <p:cNvPr id="12" name="!!leafT" descr="assets\leaf_branch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-677814"/>
            <a:ext cx="2194560" cy="2249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H3 · THE HEADLINE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The standard check rewards the wrong model</a:t>
            </a:r>
            <a:endParaRPr lang="en-US" sz="3400" dirty="0"/>
          </a:p>
        </p:txBody>
      </p:sp>
      <p:sp>
        <p:nvSpPr>
          <p:cNvPr id="4" name="a03_up_stat"/>
          <p:cNvSpPr txBox="1"/>
          <p:nvPr/>
        </p:nvSpPr>
        <p:spPr>
          <a:xfrm>
            <a:off x="685800" y="1417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62%</a:t>
            </a:r>
            <a:endParaRPr lang="en-US" sz="6600" dirty="0"/>
          </a:p>
        </p:txBody>
      </p:sp>
      <p:sp>
        <p:nvSpPr>
          <p:cNvPr id="5" name="a04_fade_statcap"/>
          <p:cNvSpPr txBox="1"/>
          <p:nvPr/>
        </p:nvSpPr>
        <p:spPr>
          <a:xfrm>
            <a:off x="685800" y="2468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896 species × model pairs: correcting the bias helps against independent surveys</a:t>
            </a:r>
            <a:endParaRPr lang="en-US" sz="1300" dirty="0"/>
          </a:p>
        </p:txBody>
      </p:sp>
      <p:sp>
        <p:nvSpPr>
          <p:cNvPr id="6" name="a05_up_stat"/>
          <p:cNvSpPr txBox="1"/>
          <p:nvPr/>
        </p:nvSpPr>
        <p:spPr>
          <a:xfrm>
            <a:off x="685800" y="3246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4.5%</a:t>
            </a:r>
            <a:endParaRPr lang="en-US" sz="6600" dirty="0"/>
          </a:p>
        </p:txBody>
      </p:sp>
      <p:sp>
        <p:nvSpPr>
          <p:cNvPr id="7" name="a06_fade_statcap"/>
          <p:cNvSpPr txBox="1"/>
          <p:nvPr/>
        </p:nvSpPr>
        <p:spPr>
          <a:xfrm>
            <a:off x="68580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those pairs: how often random cross-validation agrees</a:t>
            </a:r>
            <a:endParaRPr lang="en-US" sz="1300" dirty="0"/>
          </a:p>
        </p:txBody>
      </p:sp>
      <p:sp>
        <p:nvSpPr>
          <p:cNvPr id="8" name="a07_fade_rho"/>
          <p:cNvSpPr txBox="1"/>
          <p:nvPr/>
        </p:nvSpPr>
        <p:spPr>
          <a:xfrm>
            <a:off x="685800" y="5257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3510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−0.17  </a:t>
            </a:r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rank correlation between its verdict and the truth</a:t>
            </a:r>
            <a:endParaRPr lang="en-US" sz="2400" dirty="0"/>
          </a:p>
        </p:txBody>
      </p:sp>
      <p:sp>
        <p:nvSpPr>
          <p:cNvPr id="9" name="a08_fade_e02card_back"/>
          <p:cNvSpPr/>
          <p:nvPr/>
        </p:nvSpPr>
        <p:spPr>
          <a:xfrm>
            <a:off x="4425696" y="1499616"/>
            <a:ext cx="7360920" cy="397764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10" name="a09_fade_e02card"/>
          <p:cNvSpPr/>
          <p:nvPr/>
        </p:nvSpPr>
        <p:spPr>
          <a:xfrm>
            <a:off x="4343400" y="1417320"/>
            <a:ext cx="7360920" cy="397764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11" name="a10_wipe_e02chart" descr=""/>
          <p:cNvGraphicFramePr/>
          <p:nvPr/>
        </p:nvGraphicFramePr>
        <p:xfrm>
          <a:off x="4526280" y="1508760"/>
          <a:ext cx="69951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a11_fade_e02cap"/>
          <p:cNvSpPr txBox="1"/>
          <p:nvPr/>
        </p:nvSpPr>
        <p:spPr>
          <a:xfrm>
            <a:off x="434340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D2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internal check prefers the uncorrected model; the surveys prefer the corrected one.</a:t>
            </a:r>
            <a:endParaRPr lang="en-US" sz="1300" dirty="0"/>
          </a:p>
        </p:txBody>
      </p:sp>
      <p:sp>
        <p:nvSpPr>
          <p:cNvPr id="13" name="a12_up_fieldtag"/>
          <p:cNvSpPr/>
          <p:nvPr/>
        </p:nvSpPr>
        <p:spPr>
          <a:xfrm rot="-72000">
            <a:off x="9281160" y="5440680"/>
            <a:ext cx="2514600" cy="86868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disdat: 226 species, 6 regions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9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H3 · ROBUSTNESS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Blocking shrinks the optimism, not the mistake</a:t>
            </a:r>
            <a:endParaRPr lang="en-US" sz="3400" dirty="0"/>
          </a:p>
        </p:txBody>
      </p:sp>
      <p:sp>
        <p:nvSpPr>
          <p:cNvPr id="4" name="a03_fade_blockcard_back"/>
          <p:cNvSpPr/>
          <p:nvPr/>
        </p:nvSpPr>
        <p:spPr>
          <a:xfrm>
            <a:off x="768096" y="1545336"/>
            <a:ext cx="6035040" cy="434340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fade_blockcard"/>
          <p:cNvSpPr/>
          <p:nvPr/>
        </p:nvSpPr>
        <p:spPr>
          <a:xfrm>
            <a:off x="685800" y="1463040"/>
            <a:ext cx="6035040" cy="434340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6" name="a05_wipe_blockline" descr=""/>
          <p:cNvGraphicFramePr/>
          <p:nvPr/>
        </p:nvGraphicFramePr>
        <p:xfrm>
          <a:off x="868680" y="1554480"/>
          <a:ext cx="5669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06_fade_optcard_back"/>
          <p:cNvSpPr/>
          <p:nvPr/>
        </p:nvSpPr>
        <p:spPr>
          <a:xfrm>
            <a:off x="7260336" y="1545336"/>
            <a:ext cx="4526280" cy="260604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8" name="a07_fade_optcard"/>
          <p:cNvSpPr/>
          <p:nvPr/>
        </p:nvSpPr>
        <p:spPr>
          <a:xfrm>
            <a:off x="7178040" y="1463040"/>
            <a:ext cx="4526280" cy="260604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9" name="a08_wipe_optchart" descr=""/>
          <p:cNvGraphicFramePr/>
          <p:nvPr/>
        </p:nvGraphicFramePr>
        <p:xfrm>
          <a:off x="7315200" y="1554480"/>
          <a:ext cx="4251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a09_fade_body"/>
          <p:cNvSpPr txBox="1"/>
          <p:nvPr/>
        </p:nvSpPr>
        <p:spPr>
          <a:xfrm>
            <a:off x="7178040" y="429768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Bigger blocks remove autocorrelation optimism, as Ploton et al. found. They cannot remove observer bias: the held-out records carry it too.</a:t>
            </a:r>
            <a:endParaRPr lang="en-US" sz="1400" dirty="0"/>
          </a:p>
        </p:txBody>
      </p:sp>
      <p:sp>
        <p:nvSpPr>
          <p:cNvPr id="11" name="a10_up_fieldtag"/>
          <p:cNvSpPr/>
          <p:nvPr/>
        </p:nvSpPr>
        <p:spPr>
          <a:xfrm rot="-72000">
            <a:off x="9235440" y="5577840"/>
            <a:ext cx="2560320" cy="77724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METHOD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blockCV ranges × 0.5 / 1 / 2</a:t>
            </a:r>
            <a:endParaRPr lang="en-US" sz="1000" dirty="0"/>
          </a:p>
        </p:txBody>
      </p:sp>
      <p:pic>
        <p:nvPicPr>
          <p:cNvPr id="12" name="!!leafP" descr="assets\leaf_pine_m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1575" y="-274320"/>
            <a:ext cx="1371600" cy="19288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9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H2 · KNOWN TRUTH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As bias grows, models look better and get worse</a:t>
            </a:r>
            <a:endParaRPr lang="en-US" sz="3400" dirty="0"/>
          </a:p>
        </p:txBody>
      </p:sp>
      <p:sp>
        <p:nvSpPr>
          <p:cNvPr id="4" name="a03_fade_e03card_back"/>
          <p:cNvSpPr/>
          <p:nvPr/>
        </p:nvSpPr>
        <p:spPr>
          <a:xfrm>
            <a:off x="768096" y="1545336"/>
            <a:ext cx="5943600" cy="434340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fade_e03card"/>
          <p:cNvSpPr/>
          <p:nvPr/>
        </p:nvSpPr>
        <p:spPr>
          <a:xfrm>
            <a:off x="685800" y="1463040"/>
            <a:ext cx="5943600" cy="434340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6" name="a05_wipe_e03line" descr=""/>
          <p:cNvGraphicFramePr/>
          <p:nvPr/>
        </p:nvGraphicFramePr>
        <p:xfrm>
          <a:off x="868680" y="1554480"/>
          <a:ext cx="5577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06_fade_leakcard_back"/>
          <p:cNvSpPr/>
          <p:nvPr/>
        </p:nvSpPr>
        <p:spPr>
          <a:xfrm>
            <a:off x="7168896" y="1545336"/>
            <a:ext cx="4617720" cy="297180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8" name="a07_fade_leakcard"/>
          <p:cNvSpPr/>
          <p:nvPr/>
        </p:nvSpPr>
        <p:spPr>
          <a:xfrm>
            <a:off x="7086600" y="1463040"/>
            <a:ext cx="4617720" cy="297180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9" name="a08_wipe_leakchart" descr=""/>
          <p:cNvGraphicFramePr/>
          <p:nvPr/>
        </p:nvGraphicFramePr>
        <p:xfrm>
          <a:off x="7223760" y="1554480"/>
          <a:ext cx="4343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a09_fade_body"/>
          <p:cNvSpPr txBox="1"/>
          <p:nvPr/>
        </p:nvSpPr>
        <p:spPr>
          <a:xfrm>
            <a:off x="7086600" y="461772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Every flexible model leaks more than GLM (p ≤ 0.003).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E351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Boosted trees leak most, not the CNN.</a:t>
            </a:r>
            <a:endParaRPr lang="en-US" sz="1400" dirty="0"/>
          </a:p>
        </p:txBody>
      </p:sp>
      <p:sp>
        <p:nvSpPr>
          <p:cNvPr id="11" name="a10_up_fieldtag"/>
          <p:cNvSpPr/>
          <p:nvPr/>
        </p:nvSpPr>
        <p:spPr>
          <a:xfrm rot="-72000">
            <a:off x="9235440" y="5623560"/>
            <a:ext cx="2560320" cy="77724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 virtual species × 3 bias levels</a:t>
            </a:r>
            <a:endParaRPr lang="en-US" sz="1000" dirty="0"/>
          </a:p>
        </p:txBody>
      </p:sp>
      <p:pic>
        <p:nvPicPr>
          <p:cNvPr id="12" name="!!leafT" descr="assets\leaf_branch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391" y="-682289"/>
            <a:ext cx="2011680" cy="20622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9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H4 · WHAT WORKS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Target-group background is what works</a:t>
            </a:r>
            <a:endParaRPr lang="en-US" sz="3400" dirty="0"/>
          </a:p>
        </p:txBody>
      </p:sp>
      <p:sp>
        <p:nvSpPr>
          <p:cNvPr id="4" name="a03_fade_corrcard_back"/>
          <p:cNvSpPr/>
          <p:nvPr/>
        </p:nvSpPr>
        <p:spPr>
          <a:xfrm>
            <a:off x="768096" y="1545336"/>
            <a:ext cx="6035040" cy="434340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fade_corrcard"/>
          <p:cNvSpPr/>
          <p:nvPr/>
        </p:nvSpPr>
        <p:spPr>
          <a:xfrm>
            <a:off x="685800" y="1463040"/>
            <a:ext cx="6035040" cy="434340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graphicFrame>
        <p:nvGraphicFramePr>
          <p:cNvPr id="6" name="a05_wipe_corrchart" descr=""/>
          <p:cNvGraphicFramePr/>
          <p:nvPr/>
        </p:nvGraphicFramePr>
        <p:xfrm>
          <a:off x="868680" y="1554480"/>
          <a:ext cx="5669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06_up_stat"/>
          <p:cNvSpPr txBox="1"/>
          <p:nvPr/>
        </p:nvSpPr>
        <p:spPr>
          <a:xfrm>
            <a:off x="7178040" y="1417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77–90%</a:t>
            </a:r>
            <a:endParaRPr lang="en-US" sz="5400" dirty="0"/>
          </a:p>
        </p:txBody>
      </p:sp>
      <p:sp>
        <p:nvSpPr>
          <p:cNvPr id="8" name="a07_fade_statcap"/>
          <p:cNvSpPr txBox="1"/>
          <p:nvPr/>
        </p:nvSpPr>
        <p:spPr>
          <a:xfrm>
            <a:off x="7178040" y="22860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species: target-group background is the truly best correction</a:t>
            </a:r>
            <a:endParaRPr lang="en-US" sz="1300" dirty="0"/>
          </a:p>
        </p:txBody>
      </p:sp>
      <p:sp>
        <p:nvSpPr>
          <p:cNvPr id="9" name="a08_up_stat"/>
          <p:cNvSpPr txBox="1"/>
          <p:nvPr/>
        </p:nvSpPr>
        <p:spPr>
          <a:xfrm>
            <a:off x="7178040" y="29718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dirty="0">
                <a:solidFill>
                  <a:srgbClr val="D2601A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83–97%</a:t>
            </a:r>
            <a:endParaRPr lang="en-US" sz="5400" dirty="0"/>
          </a:p>
        </p:txBody>
      </p:sp>
      <p:sp>
        <p:nvSpPr>
          <p:cNvPr id="10" name="a09_fade_statcap"/>
          <p:cNvSpPr txBox="1"/>
          <p:nvPr/>
        </p:nvSpPr>
        <p:spPr>
          <a:xfrm>
            <a:off x="7178040" y="38404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of species: random CV instead picks bias-covariate conditioning</a:t>
            </a:r>
            <a:endParaRPr lang="en-US" sz="1300" dirty="0"/>
          </a:p>
        </p:txBody>
      </p:sp>
      <p:sp>
        <p:nvSpPr>
          <p:cNvPr id="11" name="a10_fade_body"/>
          <p:cNvSpPr txBox="1"/>
          <p:nvPr/>
        </p:nvSpPr>
        <p:spPr>
          <a:xfrm>
            <a:off x="7178040" y="4526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It rewards the method that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the bias best, not the one that </a:t>
            </a:r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removes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it. Thinning barely helps.</a:t>
            </a:r>
            <a:endParaRPr lang="en-US" sz="1400" dirty="0"/>
          </a:p>
        </p:txBody>
      </p:sp>
      <p:sp>
        <p:nvSpPr>
          <p:cNvPr id="12" name="a11_up_fieldtag"/>
          <p:cNvSpPr/>
          <p:nvPr/>
        </p:nvSpPr>
        <p:spPr>
          <a:xfrm rot="-72000">
            <a:off x="9235440" y="5623560"/>
            <a:ext cx="2560320" cy="77724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ALSO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disdat: +0.023 AUC, p = 3×10⁻¹⁶</a:t>
            </a:r>
            <a:endParaRPr lang="en-US" sz="1000" dirty="0"/>
          </a:p>
        </p:txBody>
      </p:sp>
      <p:pic>
        <p:nvPicPr>
          <p:cNvPr id="13" name="!!leafP" descr="assets\leaf_pine_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-182880"/>
            <a:ext cx="1371600" cy="19288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9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H5 · THE TOPIC QUESTION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Do corrected gaps hold undiscovered life? Not yet</a:t>
            </a:r>
            <a:endParaRPr lang="en-US" sz="3400" dirty="0"/>
          </a:p>
        </p:txBody>
      </p:sp>
      <p:sp>
        <p:nvSpPr>
          <p:cNvPr id="4" name="a03_fade_maplab"/>
          <p:cNvSpPr txBox="1"/>
          <p:nvPr/>
        </p:nvSpPr>
        <p:spPr>
          <a:xfrm>
            <a:off x="3657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RECORDS ≤ 2018</a:t>
            </a:r>
            <a:endParaRPr lang="en-US" sz="1000" dirty="0"/>
          </a:p>
        </p:txBody>
      </p:sp>
      <p:pic>
        <p:nvPicPr>
          <p:cNvPr id="5" name="a04_up_map" descr="assets\map_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710937" cy="4663440"/>
          </a:xfrm>
          <a:prstGeom prst="rect">
            <a:avLst/>
          </a:prstGeom>
        </p:spPr>
      </p:pic>
      <p:sp>
        <p:nvSpPr>
          <p:cNvPr id="6" name="a05_fade_maplab"/>
          <p:cNvSpPr txBox="1"/>
          <p:nvPr/>
        </p:nvSpPr>
        <p:spPr>
          <a:xfrm>
            <a:off x="24688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3D2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PREDICTED · UNCORRECTED</a:t>
            </a:r>
            <a:endParaRPr lang="en-US" sz="1000" dirty="0"/>
          </a:p>
        </p:txBody>
      </p:sp>
      <p:pic>
        <p:nvPicPr>
          <p:cNvPr id="7" name="a06_up_map" descr="assets\map_rich_na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83080"/>
            <a:ext cx="1710937" cy="4663440"/>
          </a:xfrm>
          <a:prstGeom prst="rect">
            <a:avLst/>
          </a:prstGeom>
        </p:spPr>
      </p:pic>
      <p:sp>
        <p:nvSpPr>
          <p:cNvPr id="8" name="a07_fade_maplab"/>
          <p:cNvSpPr txBox="1"/>
          <p:nvPr/>
        </p:nvSpPr>
        <p:spPr>
          <a:xfrm>
            <a:off x="45720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CORRECTED · GAPS ORANGE</a:t>
            </a:r>
            <a:endParaRPr lang="en-US" sz="1000" dirty="0"/>
          </a:p>
        </p:txBody>
      </p:sp>
      <p:pic>
        <p:nvPicPr>
          <p:cNvPr id="9" name="a08_up_map" descr="assets\map_rich_tg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83080"/>
            <a:ext cx="1710937" cy="4663440"/>
          </a:xfrm>
          <a:prstGeom prst="rect">
            <a:avLst/>
          </a:prstGeom>
        </p:spPr>
      </p:pic>
      <p:sp>
        <p:nvSpPr>
          <p:cNvPr id="10" name="a09_fade_mapstats"/>
          <p:cNvSpPr txBox="1"/>
          <p:nvPr/>
        </p:nvSpPr>
        <p:spPr>
          <a:xfrm>
            <a:off x="7178040" y="1417320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92%</a:t>
            </a:r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7E7C72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  vs 78%</a:t>
            </a:r>
            <a:endParaRPr lang="en-US" sz="4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tree cover of predicted hotspots, corrected vs uncorrected (GLM)</a:t>
            </a:r>
            <a:endParaRPr lang="en-US" sz="4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127</a:t>
            </a:r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7E7C72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  vs 321</a:t>
            </a:r>
            <a:endParaRPr lang="en-US" sz="4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records per hotspot cell: the corrected map stops following observers</a:t>
            </a:r>
            <a:endParaRPr lang="en-US" sz="4000" dirty="0"/>
          </a:p>
        </p:txBody>
      </p:sp>
      <p:sp>
        <p:nvSpPr>
          <p:cNvPr id="11" name="a10_fade_nullcard_back"/>
          <p:cNvSpPr/>
          <p:nvPr/>
        </p:nvSpPr>
        <p:spPr>
          <a:xfrm>
            <a:off x="7260336" y="4151376"/>
            <a:ext cx="4526280" cy="100584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12" name="a11_fade_nullcard"/>
          <p:cNvSpPr/>
          <p:nvPr/>
        </p:nvSpPr>
        <p:spPr>
          <a:xfrm>
            <a:off x="7178040" y="4069080"/>
            <a:ext cx="4526280" cy="100584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13" name="a12_fade_nulltext"/>
          <p:cNvSpPr txBox="1"/>
          <p:nvPr/>
        </p:nvSpPr>
        <p:spPr>
          <a:xfrm>
            <a:off x="7315200" y="41605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HONEST NULL</a:t>
            </a:r>
            <a:endParaRPr lang="en-US" sz="1000" dirty="0"/>
          </a:p>
          <a:p>
            <a:pPr indent="0" marL="0">
              <a:buNone/>
            </a:pPr>
            <a:r>
              <a:rPr lang="en-US" sz="13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 2019 – 2026 records, predicted richness adds nothing beyond where observers went next: β = +0.005 per SD (95% CI ± 0.03).</a:t>
            </a:r>
            <a:endParaRPr lang="en-US" sz="1000" dirty="0"/>
          </a:p>
        </p:txBody>
      </p:sp>
      <p:sp>
        <p:nvSpPr>
          <p:cNvPr id="14" name="a13_up_fieldtag"/>
          <p:cNvSpPr/>
          <p:nvPr/>
        </p:nvSpPr>
        <p:spPr>
          <a:xfrm rot="-72000">
            <a:off x="9235440" y="5669280"/>
            <a:ext cx="2560320" cy="731520"/>
          </a:xfrm>
          <a:prstGeom prst="rect">
            <a:avLst/>
          </a:prstGeom>
          <a:solidFill>
            <a:srgbClr val="F7F6EF"/>
          </a:solidFill>
          <a:ln w="9525">
            <a:solidFill>
              <a:srgbClr val="23302A"/>
            </a:solidFill>
          </a:ln>
          <a:effectLst>
            <a:outerShdw sx="100000" sy="100000" kx="0" ky="0" algn="bl" rotWithShape="0" blurRad="152400" dist="63500" dir="2700000">
              <a:srgbClr val="142016">
                <a:alpha val="32000"/>
              </a:srgbClr>
            </a:outerShdw>
          </a:effectLst>
        </p:spPr>
        <p:txBody>
          <a:bodyPr wrap="square" lIns="101600" tIns="127000" rIns="1270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FIELD NOTE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330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DATA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435 species · train ≤ 2018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Five links in the chain: four hold, one is open</a:t>
            </a:r>
            <a:endParaRPr lang="en-US" sz="3400" dirty="0"/>
          </a:p>
        </p:txBody>
      </p:sp>
      <p:graphicFrame>
        <p:nvGraphicFramePr>
          <p:cNvPr id="13" name="a03_fade_scoreca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332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749040"/>
                <a:gridCol w="237744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7E7C72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Hypothesis</a:t>
                      </a:r>
                      <a:endParaRPr lang="en-US" sz="10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7E7C72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Verdict</a:t>
                      </a:r>
                      <a:endParaRPr lang="en-US" sz="10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7E7C72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Evidence</a:t>
                      </a:r>
                      <a:endParaRPr lang="en-US" sz="10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D2601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●</a:t>
                      </a:r>
                      <a:endParaRPr lang="en-US" sz="26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H1  Records are measurably biased</a:t>
                      </a:r>
                      <a:endParaRPr lang="en-US" sz="15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3D2B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Supported</a:t>
                      </a:r>
                      <a:endParaRPr lang="en-US" sz="18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34× roadside intensity · sampbias matches the R package</a:t>
                      </a:r>
                      <a:endParaRPr lang="en-US" sz="13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D2601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◐</a:t>
                      </a:r>
                      <a:endParaRPr lang="en-US" sz="26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H2  Flexible models absorb the bias</a:t>
                      </a:r>
                      <a:endParaRPr lang="en-US" sz="15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3D2B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Partly</a:t>
                      </a:r>
                      <a:endParaRPr lang="en-US" sz="18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all flexible models &gt; GLM · trees worst, not the CNN</a:t>
                      </a:r>
                      <a:endParaRPr lang="en-US" sz="13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D2601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●</a:t>
                      </a:r>
                      <a:endParaRPr lang="en-US" sz="26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H3  Standard checks miss the damage</a:t>
                      </a:r>
                      <a:endParaRPr lang="en-US" sz="15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3D2B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Strongly supported</a:t>
                      </a:r>
                      <a:endParaRPr lang="en-US" sz="18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random CV agrees with truth 38% · blocking doesn't fix it</a:t>
                      </a:r>
                      <a:endParaRPr lang="en-US" sz="13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D2601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●</a:t>
                      </a:r>
                      <a:endParaRPr lang="en-US" sz="26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H4  Corrections can be ranked</a:t>
                      </a:r>
                      <a:endParaRPr lang="en-US" sz="15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3D2B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Supported</a:t>
                      </a:r>
                      <a:endParaRPr lang="en-US" sz="18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target-group background best, real and simulated data</a:t>
                      </a:r>
                      <a:endParaRPr lang="en-US" sz="13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600" dirty="0">
                          <a:solidFill>
                            <a:srgbClr val="7E7C72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○</a:t>
                      </a:r>
                      <a:endParaRPr lang="en-US" sz="26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H5  Corrected gaps are real</a:t>
                      </a:r>
                      <a:endParaRPr lang="en-US" sz="15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8E3510"/>
                          </a:solidFill>
                          <a:latin typeface="Bodoni MT" pitchFamily="34" charset="0"/>
                          <a:ea typeface="Bodoni MT" pitchFamily="34" charset="-122"/>
                          <a:cs typeface="Bodoni MT" pitchFamily="34" charset="-120"/>
                        </a:rPr>
                        <a:t>Not yet</a:t>
                      </a:r>
                      <a:endParaRPr lang="en-US" sz="1800" dirty="0">
                        <a:latin typeface="Bodoni MT" charset="0"/>
                        <a:ea typeface="Bodoni MT" charset="0"/>
                        <a:cs typeface="Bodoni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302A"/>
                          </a:solidFill>
                          <a:latin typeface="Gill Sans MT" pitchFamily="34" charset="0"/>
                          <a:ea typeface="Gill Sans MT" pitchFamily="34" charset="-122"/>
                          <a:cs typeface="Gill Sans MT" pitchFamily="34" charset="-120"/>
                        </a:rPr>
                        <a:t>zero effect beyond effort (common species)</a:t>
                      </a:r>
                      <a:endParaRPr lang="en-US" sz="1300" dirty="0">
                        <a:latin typeface="Gill Sans MT" charset="0"/>
                        <a:ea typeface="Gill Sans MT" charset="0"/>
                        <a:cs typeface="Gill Sans MT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FA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!!leafP" descr="assets\leaf_pine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7567" y="914400"/>
            <a:ext cx="1463040" cy="2057400"/>
          </a:xfrm>
          <a:prstGeom prst="rect">
            <a:avLst/>
          </a:prstGeom>
        </p:spPr>
      </p:pic>
      <p:pic>
        <p:nvPicPr>
          <p:cNvPr id="6" name="!!leafB" descr="assets\leaf_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209" y="5815545"/>
            <a:ext cx="3108960" cy="19464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1_zoom_canopy" descr="assets\can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-685800"/>
            <a:ext cx="5788445" cy="8229600"/>
          </a:xfrm>
          <a:prstGeom prst="rect">
            <a:avLst/>
          </a:prstGeom>
        </p:spPr>
      </p:pic>
      <p:sp>
        <p:nvSpPr>
          <p:cNvPr id="3" name="a02_fade_eyebrow"/>
          <p:cNvSpPr txBox="1"/>
          <p:nvPr/>
        </p:nvSpPr>
        <p:spPr>
          <a:xfrm>
            <a:off x="68580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0A25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PHASE B</a:t>
            </a:r>
            <a:endParaRPr lang="en-US" sz="1200" dirty="0"/>
          </a:p>
        </p:txBody>
      </p:sp>
      <p:sp>
        <p:nvSpPr>
          <p:cNvPr id="4" name="a03_up_title"/>
          <p:cNvSpPr txBox="1"/>
          <p:nvPr/>
        </p:nvSpPr>
        <p:spPr>
          <a:xfrm>
            <a:off x="685800" y="1143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1F0E8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 we test next</a:t>
            </a:r>
            <a:endParaRPr lang="en-US" sz="4400" dirty="0"/>
          </a:p>
        </p:txBody>
      </p:sp>
      <p:sp>
        <p:nvSpPr>
          <p:cNvPr id="5" name="a04_fade_nextlist"/>
          <p:cNvSpPr txBox="1"/>
          <p:nvPr/>
        </p:nvSpPr>
        <p:spPr>
          <a:xfrm>
            <a:off x="685800" y="22402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Rare endemics, off-road cells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forward test where missed biodiversity would actually be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eBird and museum records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through a citable GBIF download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GeoLifeCLEF 2024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the CNN on real European survey plots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Home-advantage control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 the target-group check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1F0E8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OSM vs GRIP4 roads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9D6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is incomplete mapping inflating the gaps?</a:t>
            </a:r>
            <a:endParaRPr lang="en-US" sz="1600" dirty="0"/>
          </a:p>
        </p:txBody>
      </p:sp>
      <p:sp>
        <p:nvSpPr>
          <p:cNvPr id="6" name="a05_fade_thanks"/>
          <p:cNvSpPr txBox="1"/>
          <p:nvPr/>
        </p:nvSpPr>
        <p:spPr>
          <a:xfrm>
            <a:off x="68580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A25C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Thank you · questions welcome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6B0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_fade_eyebrow"/>
          <p:cNvSpPr txBox="1"/>
          <p:nvPr/>
        </p:nvSpPr>
        <p:spPr>
          <a:xfrm>
            <a:off x="6858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a02_up_title"/>
          <p:cNvSpPr txBox="1"/>
          <p:nvPr/>
        </p:nvSpPr>
        <p:spPr>
          <a:xfrm>
            <a:off x="685800" y="6400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F3D2B"/>
                </a:solidFill>
                <a:latin typeface="Bodoni MT" pitchFamily="34" charset="0"/>
                <a:ea typeface="Bodoni MT" pitchFamily="34" charset="-122"/>
                <a:cs typeface="Bodoni MT" pitchFamily="34" charset="-120"/>
              </a:rPr>
              <a:t>What reading changed, and how we checked</a:t>
            </a:r>
            <a:endParaRPr lang="en-US" sz="3400" dirty="0"/>
          </a:p>
        </p:txBody>
      </p:sp>
      <p:sp>
        <p:nvSpPr>
          <p:cNvPr id="4" name="a03_fade_lit_back"/>
          <p:cNvSpPr/>
          <p:nvPr/>
        </p:nvSpPr>
        <p:spPr>
          <a:xfrm>
            <a:off x="768096" y="1591056"/>
            <a:ext cx="5349240" cy="301752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5" name="a04_fade_lit"/>
          <p:cNvSpPr/>
          <p:nvPr/>
        </p:nvSpPr>
        <p:spPr>
          <a:xfrm>
            <a:off x="685800" y="1508760"/>
            <a:ext cx="5349240" cy="301752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6" name="a05_fade_littext"/>
          <p:cNvSpPr txBox="1"/>
          <p:nvPr/>
        </p:nvSpPr>
        <p:spPr>
          <a:xfrm>
            <a:off x="914400" y="1691640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CORRECTIONS TO OUR REVIEW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Deneu et al. 2021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handle observer bias implicitly (species given an observation) but test on a random split.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Elith et al. 2006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diagnosed bias in several regions; Phillips 2009 grew from it.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Fithian et al. 2015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used their own eucalypt surveys, not the disdat NSW data.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Hughes et al. 2021 </a:t>
            </a:r>
            <a:pPr indent="0" marL="0"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'records within 2.5 km of a road' is uninformative where 95% of land qualifies.</a:t>
            </a:r>
            <a:endParaRPr lang="en-US" sz="1400" dirty="0"/>
          </a:p>
        </p:txBody>
      </p:sp>
      <p:sp>
        <p:nvSpPr>
          <p:cNvPr id="7" name="a06_fade_ver_back"/>
          <p:cNvSpPr/>
          <p:nvPr/>
        </p:nvSpPr>
        <p:spPr>
          <a:xfrm>
            <a:off x="6483096" y="1591056"/>
            <a:ext cx="5303520" cy="3017520"/>
          </a:xfrm>
          <a:prstGeom prst="rect">
            <a:avLst/>
          </a:prstGeom>
          <a:solidFill>
            <a:srgbClr val="C9D6B0"/>
          </a:solidFill>
          <a:ln/>
        </p:spPr>
      </p:sp>
      <p:sp>
        <p:nvSpPr>
          <p:cNvPr id="8" name="a07_fade_ver"/>
          <p:cNvSpPr/>
          <p:nvPr/>
        </p:nvSpPr>
        <p:spPr>
          <a:xfrm>
            <a:off x="6400800" y="1508760"/>
            <a:ext cx="5303520" cy="3017520"/>
          </a:xfrm>
          <a:prstGeom prst="rect">
            <a:avLst/>
          </a:prstGeom>
          <a:solidFill>
            <a:srgbClr val="F7F6EF"/>
          </a:solidFill>
          <a:ln/>
          <a:effectLst>
            <a:outerShdw sx="100000" sy="100000" kx="0" ky="0" algn="bl" rotWithShape="0" blurRad="177800" dist="50800" dir="2700000">
              <a:srgbClr val="142016">
                <a:alpha val="32000"/>
              </a:srgbClr>
            </a:outerShdw>
          </a:effectLst>
        </p:spPr>
      </p:sp>
      <p:sp>
        <p:nvSpPr>
          <p:cNvPr id="9" name="a08_fade_vertext"/>
          <p:cNvSpPr txBox="1"/>
          <p:nvPr/>
        </p:nvSpPr>
        <p:spPr>
          <a:xfrm>
            <a:off x="6629400" y="1691640"/>
            <a:ext cx="48463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300" kern="0" dirty="0">
                <a:solidFill>
                  <a:srgbClr val="D2601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VERIFICATION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sampbias: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6 Python weights inside the R package's 95% intervals on the same grid; 4 agree within 1%.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blockCV: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our variogram ranges did not match; conclusions hold at ×0.5, ×1, ×2 of blockCV's ranges.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disdat: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target-group gains largest where bias is strongest (Ontario +0.11), as Phillips 2009 reported.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Caught artefact: </a:t>
            </a:r>
            <a:pPr indent="0" marL="0">
              <a:buNone/>
            </a:pPr>
            <a:r>
              <a:rPr lang="en-US" sz="1400" dirty="0">
                <a:solidFill>
                  <a:srgbClr val="23302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'1.6× more discoveries in gaps' vanished after adjusting for later effort.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C72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1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per Atlas">
  <a:themeElements>
    <a:clrScheme name="Paper Atlas">
      <a:dk1>
        <a:srgbClr val="23302A"/>
      </a:dk1>
      <a:lt1>
        <a:srgbClr val="F1F0E8"/>
      </a:lt1>
      <a:dk2>
        <a:srgbClr val="1F3D2B"/>
      </a:dk2>
      <a:lt2>
        <a:srgbClr val="E2E8D6"/>
      </a:lt2>
      <a:accent1>
        <a:srgbClr val="D2601A"/>
      </a:accent1>
      <a:accent2>
        <a:srgbClr val="4F6B35"/>
      </a:accent2>
      <a:accent3>
        <a:srgbClr val="8BAA4F"/>
      </a:accent3>
      <a:accent4>
        <a:srgbClr val="F0A25C"/>
      </a:accent4>
      <a:accent5>
        <a:srgbClr val="24452F"/>
      </a:accent5>
      <a:accent6>
        <a:srgbClr val="7E7C72"/>
      </a:accent6>
      <a:hlink>
        <a:srgbClr val="D2601A"/>
      </a:hlink>
      <a:folHlink>
        <a:srgbClr val="7E7C72"/>
      </a:folHlink>
    </a:clrScheme>
    <a:fontScheme name="Paper Atlas">
      <a:majorFont>
        <a:latin typeface="Bodoni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the roads end: EVST Topic 11 mid-evaluation</dc:title>
  <dc:subject>PptxGenJS Presentation</dc:subject>
  <dc:creator>Ponnambalam V, Nandini C, Mohit Nallagatla, Manali Gupta</dc:creator>
  <cp:lastModifiedBy>Ponnambalam V, Nandini C, Mohit Nallagatla, Manali Gupta</cp:lastModifiedBy>
  <cp:revision>1</cp:revision>
  <dcterms:created xsi:type="dcterms:W3CDTF">2026-10-07T21:30:51Z</dcterms:created>
  <dcterms:modified xsi:type="dcterms:W3CDTF">2026-10-07T21:30:51Z</dcterms:modified>
</cp:coreProperties>
</file>